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All Detail Weekly Conversion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All Detail — Dec 2025 to Feb 2026  |  Net Conversion = Rented ÷ (Rented + Cancelled)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9601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868680"/>
                <a:gridCol w="868680"/>
                <a:gridCol w="868680"/>
                <a:gridCol w="1005840"/>
                <a:gridCol w="868680"/>
                <a:gridCol w="1097280"/>
                <a:gridCol w="914400"/>
                <a:gridCol w="914400"/>
                <a:gridCol w="1143000"/>
              </a:tblGrid>
              <a:tr h="457200"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R+C</a:t>
                      </a:r>
                    </a:p>
                  </a:txBody>
                  <a:tcPr>
                    <a:solidFill>
                      <a:srgbClr val="E8E8E8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Net
Conv %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Total
Reservations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% Unused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Gross
Conv %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Net Conv
Trail 4wk %</a:t>
                      </a:r>
                    </a:p>
                  </a:txBody>
                  <a:tcPr>
                    <a:solidFill>
                      <a:srgbClr val="F5C40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22 Dec 2025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5,602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1,972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7,574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74.0%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8,066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69.5%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29 Dec 2025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7,094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2,217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9,311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76.2%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555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9,866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71.9%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05 Jan 2026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10,503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2,618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13,121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810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13,931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75.4%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9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 Jan 2026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9,707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2,486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12,193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79.6%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905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13,098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6.9%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74.1%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78.0%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19 Jan 2026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8,926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2,142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11,068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80.6%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1,077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12,145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79.3%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26 Jan 2026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8,804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2,095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10,899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80.8%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1,360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12,259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71.8%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02 Feb 2026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9,425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1,892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11,317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2,132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13,449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15.9%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70.1%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81.1%</a:t>
                      </a:r>
                    </a:p>
                  </a:txBody>
                  <a:tcPr>
                    <a:solidFill>
                      <a:srgbClr val="FFFFFF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09 Feb 2026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7,803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1,438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6E6E6E"/>
                          </a:solidFill>
                          <a:latin typeface="Calibri"/>
                        </a:rPr>
                        <a:t>9,241</a:t>
                      </a:r>
                    </a:p>
                  </a:txBody>
                  <a:tcPr>
                    <a:solidFill>
                      <a:srgbClr val="F0F0F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84.4%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3,823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13,064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29.3%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59.7%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900" b="0" i="1">
                          <a:solidFill>
                            <a:srgbClr val="1A1A1A"/>
                          </a:solidFill>
                          <a:latin typeface="Calibri"/>
                        </a:rPr>
                        <a:t>82.2%</a:t>
                      </a:r>
                    </a:p>
                  </a:txBody>
                  <a:tcPr>
                    <a:solidFill>
                      <a:srgbClr val="FAFAFA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  <a:tr h="457200">
                <a:tc>
                  <a:txBody>
                    <a:bodyPr wrap="square" tIns="38100" bIns="38100" lIns="50800" rIns="50800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67,864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16,860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6E6E6E"/>
                          </a:solidFill>
                          <a:latin typeface="Calibri"/>
                        </a:rPr>
                        <a:t>84,724</a:t>
                      </a:r>
                    </a:p>
                  </a:txBody>
                  <a:tcPr>
                    <a:solidFill>
                      <a:srgbClr val="E0E0E0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80.1%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11,154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>95,878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11.6%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r"/>
                      <a:r>
                        <a:rPr sz="1000" b="1" i="1">
                          <a:solidFill>
                            <a:srgbClr val="1A1A1A"/>
                          </a:solidFill>
                          <a:latin typeface="Calibri"/>
                        </a:rPr>
                        <a:t>70.8%</a:t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  <a:tc>
                  <a:txBody>
                    <a:bodyPr wrap="square" tIns="38100" bIns="38100" lIns="50800" rIns="50800"/>
                    <a:lstStyle/>
                    <a:p>
                      <a:pPr algn="ctr"/>
                      <a:r>
                        <a:rPr sz="1000" b="1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  <a:tcBorders>
                      <a:top w="6350" cap="flat" cmpd="sng" algn="ctr">
                        <a:solidFill>
                          <a:srgbClr val="E6E6E6"/>
                        </a:solidFill>
                      </a:top>
                      <a:bottom w="6350" cap="flat" cmpd="sng" algn="ctr">
                        <a:solidFill>
                          <a:srgbClr val="E6E6E6"/>
                        </a:solidFill>
                      </a:bottom>
                      <a:left w="6350" cap="flat" cmpd="sng" algn="ctr">
                        <a:solidFill>
                          <a:srgbClr val="E6E6E6"/>
                        </a:solidFill>
                      </a:left>
                      <a:right w="6350" cap="flat" cmpd="sng" algn="ctr">
                        <a:solidFill>
                          <a:srgbClr val="E6E6E6"/>
                        </a:solidFill>
                      </a:right>
                    </a:tcBorders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E6E6E"/>
                </a:solidFill>
                <a:latin typeface="Calibri"/>
              </a:rPr>
              <a:t>Note: Most recent weeks may show elevated % Unused due to reservations still being worked.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