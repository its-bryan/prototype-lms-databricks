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9"/>
    <p:restoredTop sz="94697"/>
  </p:normalViewPr>
  <p:slideViewPr>
    <p:cSldViewPr snapToGrid="0" snapToObjects="1">
      <p:cViewPr varScale="1">
        <p:scale>
          <a:sx n="167" d="100"/>
          <a:sy n="167" d="100"/>
        </p:scale>
        <p:origin x="5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Tom vs Chad: 13,967 Missing Records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241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6E6E6E"/>
                </a:solidFill>
                <a:latin typeface="Calibri"/>
              </a:rPr>
              <a:t>Overlap period: Dec 20, 2025 – Feb 13, 2026  |  Records in Tom’s HLE data but absent from Chad’s All Detail report</a:t>
            </a:r>
            <a:endParaRPr lang="en-AU" sz="1200" dirty="0">
              <a:solidFill>
                <a:srgbClr val="6E6E6E"/>
              </a:solidFill>
              <a:latin typeface="Calibri"/>
            </a:endParaRPr>
          </a:p>
          <a:p>
            <a:endParaRPr lang="en-AU" sz="1200" dirty="0">
              <a:solidFill>
                <a:srgbClr val="6E6E6E"/>
              </a:solidFill>
              <a:latin typeface="Calibri"/>
            </a:endParaRPr>
          </a:p>
          <a:p>
            <a:r>
              <a:rPr lang="en-AU" sz="1200" i="1" dirty="0">
                <a:solidFill>
                  <a:srgbClr val="6E6E6E"/>
                </a:solidFill>
                <a:latin typeface="Calibri"/>
              </a:rPr>
              <a:t>99.4% of Chad’s entries are included in Tom’s, the 0.6% is mainly dealership/fleet reservations – and a majority of them are the ‘R1-R15’ and ‘-1’ suffix KNUM</a:t>
            </a:r>
            <a:endParaRPr sz="1200" i="1" dirty="0">
              <a:solidFill>
                <a:srgbClr val="6E6E6E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74355"/>
              </p:ext>
            </p:extLst>
          </p:nvPr>
        </p:nvGraphicFramePr>
        <p:xfrm>
          <a:off x="548640" y="1645920"/>
          <a:ext cx="13167358" cy="3977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9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857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Net Conv %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Likely Reason Missing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96"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Standard HLE (037) —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Same State Farm, GEICO, Tesla sources Chad captures —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likely the walk up ones (but then why is the net conversion not 100%?)</a:t>
                      </a:r>
                      <a:endParaRPr sz="12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Standard HLE (037) — Fleet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1,744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1,667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88% are Element Maintenance LDW.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Standard HLE (037) — Dealer/Other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Mix of dealer referrals (Endurance, Toyota, CDJR) and smaller insurers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Dealer/Corporate (H-prefix)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3,587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3,587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100% rented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 </a:t>
                      </a:r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walk up reservations?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Licensee (242-prefix)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All </a:t>
                      </a:r>
                      <a:r>
                        <a:rPr sz="1200" b="0" i="0" dirty="0" err="1">
                          <a:solidFill>
                            <a:srgbClr val="1A1A1A"/>
                          </a:solidFill>
                          <a:latin typeface="Calibri"/>
                        </a:rPr>
                        <a:t>NaN</a:t>
                      </a:r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Entity — 126 licensee-operated HLE locations (Ohio, Tennessee, Arkans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)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 </a:t>
                      </a:r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Why are these excluded from Chad’s report?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GEICO Direct-Dispatch (OKR-prefix)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992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992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100% rented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 </a:t>
                      </a:r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walk up reservations?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Canada (208-prefix)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90.2%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Canadian reservations using 208-prefix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 </a:t>
                      </a:r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walk up? 90.2% why not 100%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Self-Pay (SPR-prefix)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100% sourced from "HERTZ SELF PAY"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lang="en-AU" sz="1200" b="0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 </a:t>
                      </a:r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  <a:sym typeface="Wingdings" pitchFamily="2" charset="2"/>
                        </a:rPr>
                        <a:t>not insurance?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Other Regional Formats (MOS, NYG,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Regional dealer confirmation formats: MOS (Reliable Chevrolet, Springfield)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45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13,987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12,453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1,105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1" dirty="0">
                          <a:solidFill>
                            <a:srgbClr val="1A1A1A"/>
                          </a:solidFill>
                          <a:latin typeface="Calibri"/>
                        </a:rPr>
                        <a:t>91.8%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7315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E6E6E"/>
                </a:solidFill>
                <a:latin typeface="Calibri"/>
              </a:rPr>
              <a:t>Most missing records are pre-arranged conversions (dealer loaners, GEICO direct-dispatch) that inflate Tom’s conversion rate. Chad’s data is a cleaner view of the actual IR conversion challenge.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Standard HLE (037) —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3,832 records  |  Net Conversion: 80.2%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FARM-DULUTH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FARM-TEMPE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889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23.2%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FARM-DALLAS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TESLA INSURANCE CLAIMS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COMMERCE INS-WEBSTER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FARM-BLOOMINGTON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PLYMOUTH ROCK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ELEPHANT INS-GLEN ALLEN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05894-02 ODONNELL CATONSVILLE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02204-12 STATE STREET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07642-03 DALLAS DOWNTOWN  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04838-06 JOPPA RD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07351-03 ELLIS STREET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07927-16 ITALY AUTO BODY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05703-10 GARDENA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05311-01 OAK PARK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037-0078663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TESLA INSURANCE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ISIK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07183-05 EXPOSITION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037-0024038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COMMERCE INS-WEBSTER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ZAHEDI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07755-01 WOBURN 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037-0096107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FARM-DULUTH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TREJO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05624-01 CONYERS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037-0080654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FARM-TEMPE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CHRETIEN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07637-01 CYPRESS/FAIRFIELD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037-0127700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FARM-TEMPE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DODSON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05528-12 WAYCROSS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Standard HLE (037) —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1,744 records  |  Net Conversion: 97.5%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ELEMENT ACCIDENT INCL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WHEELS FLEET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ELEMENT ACCIDENT BASE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INT BASE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WHEELS FLEET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05827-03 FAIRLESS HILLS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05672-25 MT MORIAH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07637-01 CYPRESS/FAIRFIELD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07525-04 LUBBOCK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07857-16 SAN MATEO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04838-06 JOPPA RD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05883-01 APEX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07673-05 GAYLORD TEXAN RESORT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037-0090391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SANDERS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07673-05 GAYLORD TEXAN RESORT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037-0042621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LEWIS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05477-10 EASTGATE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037-0056333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07291-05 FULTON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037-0076262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CUENOT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07480-04 NORTH PALM BEACH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037-0091588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HOPSON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07700-20 BUFFALO ROAD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Standard HLE (037) — Dealer/Other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1,430 records  |  Net Conversion: 91.5%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ENDURANCE DEALER SERVICE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MOUNTAIN STATES TOYOTA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NAPLES CDJR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ARRIGO CHRY JEEP DODGE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POLESTAR AUTOMOTIVE USA 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TRAVELERS WINDSOR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HOLMAN CADILLAC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TUSTIN BUICK GMC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07829-04 BROOMFIELD DT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07439-26 NAPLES CDJR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07824-05 MOUNTAIN STATES TOYOTA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07658-01 CONROE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05582-02 GREENWAY FORD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05902-24 CHERRY HILL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07410-02 ARRAIGO TAMARAC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07824-21 THORNTON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037-0109670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JAGUAR LAND ROVER SAN ANTONIO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PANZARELLA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07653-02 DEZAVALA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037-0134178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GE CONCIERGE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MCDONOUGH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07741-02 PROVIDENCE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037-0044636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MENDOTA INSURANCE 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ARCHER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07189-02 EAST SAHARA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037-0036500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AMERICAN COMMERCE WEBSTER INS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PHILIPP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07479-01 DELRAY BEACH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037-0109001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AMICA DALLAS REGL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KARP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07868-12 TUCSON SPEEDWAY 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Dealer/Corporate (H-prefix)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3,587 records  |  Net Conversion: 100.0%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AUDI WEST PALM BEACH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AUTONATION CHEVROLET GREE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6.9%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WOODBURY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MOTOR CITY AUTO CENTER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DICK DEVOE BUICK CADILLAC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TOYOTA OF ROCHE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CHRYSLER JEEP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DICK DEVOE BUICK CADILLAC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07428-09 WEST PALM BEACH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07429-05 GREENACRES CHEVY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07700-20 BUFFALO ROAD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07439-15 NAPLES LOCAL EDITION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07206-03 DISTRICT BLVD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07708-13 LOCKPORT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07463-02 DAYTONA BEACH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07731-04 REVERE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H86658364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AUDI WEST PALM BEACH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MOURA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07428-09 WEST PALM BEACH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H86561974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GARY YEOMANS FORD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MARZ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07463-02 DAYTONA BEACH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H86483876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AUDI WEST PALM BEACH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ALBRIGHT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07428-09 WEST PALM BEACH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H46401880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MILLENNIUM INS SHERWOOD 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AL ABADA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08039-11 EDMONTON WESTEND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H86699454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AUDI WEST PALM BEACH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ZIFFER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07428-09 WEST PALM BEACH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Licensee (242-prefix)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1,476 records  |  Net Conversion: 94.7%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FARM-DULUTH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FARM-TEMPE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257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17.4%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WHEELS FLEET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ELEMENT ACCIDENT INCL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MACON 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FARM-DALLAS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95039-04 E.NORTH STREET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94264-03 WESTERVILLE LOCATION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94220-10 CENTRAL COLUMBUS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95070-03 CLINTON HIGHWAY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95037-08 FERNANDINA ROAD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95060-01 BLACKSTOCK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96115-03 LITTLE ROCK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94220-32 EASTON LOCATION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242-0048364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FARM-TEMPE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BABAR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94204-18 HLE OF DUBLIN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242-0077008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BULLOCK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96115-01 NORTH LITTLE ROCK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242-0064810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CSAA OKLAHOMA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92311-12 GARDEN CITY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242-0131496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STATE FARM-DULUTH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94204-18 HLE OF DUBLIN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242-0088173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NATIONWIDE NON-OYS RENTALS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WALKER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92322-01 GREAT BEND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1,397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GEICO Direct-Dispatch (OKR-prefix)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992 records  |  Net Conversion: 100.0%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WOODBURY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MACON 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FREDERICKSBURG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LAKELAND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GEICO-DALLAS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GEICO-BUFFALO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GEICO-VIRGINIA BEACH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- SAN DIEGO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07927-16 ITALY AUTO 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04838-06 JOPPA RD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05894-02 ODONNELL CATONSVILLE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05843-09 SILVER SPRING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07948-12 WEST BABYLON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07713-17 IRONDEQUOIT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07700-20 BUFFALO ROAD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05917-01 STATEN ISLAND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OKRCU47098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GEICO WOODBURY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KOTARY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07739-14 SYRACUSE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OKRCU47609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GEICO-DALLAS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SMITH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05863-17 VIRGINIA BEACH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OKRCU48368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GEICO - TUCSON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STEPHENS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07316-03 SE PORTLAND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OKRCU47343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GEICO MACON 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MARTINEZ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07519-24 LIVE OAK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OKRCU46541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GEICO WOODBURY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SHELTON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04838-06 JOPPA RD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Canada (208-prefix)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264 records  |  Net Conversion: 90.2%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CANADA 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45.8%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COOPERATORS (CGIC)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17.8%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CANADA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DEFINITY UBER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MAINT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DEFINITY BAU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CO-OP QC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POLESTAR CARS VANCOUVER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08077-12 HERTZ N. YONGE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08134-01 HERTZ LAVAL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08089-21 OAKVILLE VW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08043-18 HORIZON AUTO CENTRE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08086-05 BROSSARD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08170-01 QUEENSWAY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08153-05 QUEBEC CITY LEBOURGNEUF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08122-08 EDMONTON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208-0038213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CANADA INT LDW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TRIVEDI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08128-03 SASKATOON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208-0110922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DEFINITY UBER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PRODHAN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08172-20 UBER MARKHAM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208-0080324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COOPERATORS (CGIC)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08085-35 MARKHAM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208-0128346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ELEMENT CANADA INT LDW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HISSON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08077-12 HERTZ N. YONGE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208-0123636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HLE WHEELS CANADA INCLUSIVE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WOOD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08062-02 WINDSOR WALKER 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90.2%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Self-Pay (SPR-prefix)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184 records  |  Net Conversion: 18.0%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694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07678-16 DOWNTOWN AUSTIN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07615-01 PLANO EAST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05912-12 LAKEWOOD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07206-03 DISTRICT BLVD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07709-05 FAIRPORT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04838-06 JOPPA RD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05856-19 ANNAPOLIS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07419-01 CORAL SPRINGS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SPR-0033305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POLIZZI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05511-02 PORT RICHEY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SPR-0047735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HEINTZELMAN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07806-01 ARVADA 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6E6E6E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SPR-0126364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RUTHERFORD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06981-01 LIMA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SPR-0100242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CORTINAS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07678-16 DOWNTOWN AUSTIN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C62828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SPR-0120335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HERTZ  SELF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COPPES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07474-23 FORT MYERS SOUTH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Other Regional Formats (MOS, NYG, etc.)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478 records  |  Net Conversion: 91.7%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RELIABLE CHEVROLET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GOLD STAR MOTOR INC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ALLSTATE-STOCKTON SELF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FORD LINCOLN OF AMHERST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GEICO FREDERICKSBURG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FORD LINCOLN OF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TESLA INSURANCE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T&amp;T COAST BUICK GMC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Top Locations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07062-20 W CHESTNUT SPRINGFIELD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07733-04 E AMHERST W HERR FORD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07062-14 SOUTH SPRINGFIELD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07708-13 LOCKPORT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07285-01 SALINAS MORTENSEN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05832-16 WINCHESTER-WEST JUBAL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05922-02 LAWRENCEVILLE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05785-07 EL MONTE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5 Example Reservations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943600"/>
          <a:ext cx="11704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Confirm #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Renter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1A1A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RIPLE011572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2026-02-04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PLYMOUTH ROCK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BRILHANTE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07741-02 PROVIDENCE HLE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6E6E6E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NYGET041992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2025-12-23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FORD LINCOLN OF AMHERST 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VERNON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07733-04 E AMHERST W HERR FORD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NYCHE0690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WEST HERR NISSAN WILLIAMS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DEVIUS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MOSGF14327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RELIABLE CHEVROLET HIRS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BOREN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07062-14 SOUTH SPRINGFIELD HLE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MANLE01971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TRAVELERS-GREENWD VLG HIRS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FELTON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Calibri"/>
                        </a:rPr>
                        <a:t>07779-01 BOSTON-MARRIOTT NEWTON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E7D32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Outcome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430000" y="2377440"/>
          <a:ext cx="2286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2E7D32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62828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Net Conv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2071</Words>
  <Application>Microsoft Macintosh PowerPoint</Application>
  <PresentationFormat>Custom</PresentationFormat>
  <Paragraphs>912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Sia</cp:lastModifiedBy>
  <cp:revision>3</cp:revision>
  <dcterms:created xsi:type="dcterms:W3CDTF">2013-01-27T09:14:16Z</dcterms:created>
  <dcterms:modified xsi:type="dcterms:W3CDTF">2026-02-18T23:20:06Z</dcterms:modified>
  <cp:category/>
</cp:coreProperties>
</file>