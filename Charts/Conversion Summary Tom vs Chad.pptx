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55"/>
    <p:restoredTop sz="94658"/>
  </p:normalViewPr>
  <p:slideViewPr>
    <p:cSldViewPr snapToGrid="0" snapToObjects="1">
      <p:cViewPr varScale="1">
        <p:scale>
          <a:sx n="100" d="100"/>
          <a:sy n="100" d="100"/>
        </p:scale>
        <p:origin x="848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940757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>
                <a:solidFill>
                  <a:srgbClr val="1A1A1A"/>
                </a:solidFill>
                <a:latin typeface="Calibri"/>
              </a:rPr>
              <a:t>Weekly Conversion Summary</a:t>
            </a:r>
            <a:r>
              <a:rPr lang="en-AU" sz="2400" b="1" dirty="0">
                <a:solidFill>
                  <a:srgbClr val="1A1A1A"/>
                </a:solidFill>
                <a:latin typeface="Calibri"/>
              </a:rPr>
              <a:t> (ALL – IR, Dealership, Fleet: Tom’s Tableau)</a:t>
            </a:r>
            <a:endParaRPr sz="2400" b="1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280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  <a:latin typeface="Calibri"/>
              </a:rPr>
              <a:t>HLE Last 90 Days  |  Net Conversion = Rented ÷ (Rented + Cancelled)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9504804"/>
              </p:ext>
            </p:extLst>
          </p:nvPr>
        </p:nvGraphicFramePr>
        <p:xfrm>
          <a:off x="548640" y="1325880"/>
          <a:ext cx="12423257" cy="517408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606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0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0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4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014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0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1980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8316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8316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789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73267">
                <a:tc>
                  <a:txBody>
                    <a:bodyPr/>
                    <a:lstStyle/>
                    <a:p>
                      <a:pPr algn="ctr"/>
                      <a:r>
                        <a:rPr lang="en-AU" sz="1200" b="1" i="0" dirty="0">
                          <a:solidFill>
                            <a:srgbClr val="1A1A1A"/>
                          </a:solidFill>
                          <a:latin typeface="Calibri"/>
                        </a:rPr>
                        <a:t>w/c</a:t>
                      </a:r>
                      <a:endParaRPr sz="1200" b="1" i="0" dirty="0">
                        <a:solidFill>
                          <a:srgbClr val="1A1A1A"/>
                        </a:solidFill>
                        <a:latin typeface="Calibri"/>
                      </a:endParaRPr>
                    </a:p>
                  </a:txBody>
                  <a:tcPr marL="118317" marR="118317" marT="59158" marB="59158" anchor="b">
                    <a:solidFill>
                      <a:srgbClr val="F5C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dirty="0">
                          <a:solidFill>
                            <a:srgbClr val="1A1A1A"/>
                          </a:solidFill>
                          <a:latin typeface="Calibri"/>
                        </a:rPr>
                        <a:t>Rented</a:t>
                      </a:r>
                    </a:p>
                  </a:txBody>
                  <a:tcPr marL="118317" marR="118317" marT="59158" marB="59158" anchor="b">
                    <a:solidFill>
                      <a:srgbClr val="F5C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dirty="0">
                          <a:solidFill>
                            <a:srgbClr val="1A1A1A"/>
                          </a:solidFill>
                          <a:latin typeface="Calibri"/>
                        </a:rPr>
                        <a:t>Cancelled</a:t>
                      </a:r>
                    </a:p>
                  </a:txBody>
                  <a:tcPr marL="118317" marR="118317" marT="59158" marB="59158" anchor="b">
                    <a:solidFill>
                      <a:srgbClr val="F5C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200" b="1" i="0" dirty="0">
                          <a:solidFill>
                            <a:srgbClr val="1A1A1A"/>
                          </a:solidFill>
                          <a:latin typeface="Calibri"/>
                        </a:rPr>
                        <a:t>TOTAL COMPLETED</a:t>
                      </a:r>
                      <a:endParaRPr sz="1200" b="1" i="0" dirty="0">
                        <a:solidFill>
                          <a:srgbClr val="1A1A1A"/>
                        </a:solidFill>
                        <a:latin typeface="Calibri"/>
                      </a:endParaRPr>
                    </a:p>
                  </a:txBody>
                  <a:tcPr marL="118317" marR="118317" marT="59158" marB="59158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1" dirty="0">
                          <a:solidFill>
                            <a:srgbClr val="1A1A1A"/>
                          </a:solidFill>
                          <a:latin typeface="Calibri"/>
                        </a:rPr>
                        <a:t>Net
Conv %</a:t>
                      </a:r>
                    </a:p>
                  </a:txBody>
                  <a:tcPr marL="118317" marR="118317" marT="59158" marB="59158" anchor="b">
                    <a:solidFill>
                      <a:srgbClr val="F5C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dirty="0">
                          <a:solidFill>
                            <a:srgbClr val="1A1A1A"/>
                          </a:solidFill>
                          <a:latin typeface="Calibri"/>
                        </a:rPr>
                        <a:t>Unused</a:t>
                      </a:r>
                    </a:p>
                  </a:txBody>
                  <a:tcPr marL="118317" marR="118317" marT="59158" marB="59158" anchor="b">
                    <a:solidFill>
                      <a:srgbClr val="F5C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200" b="1" i="0" dirty="0">
                          <a:solidFill>
                            <a:srgbClr val="1A1A1A"/>
                          </a:solidFill>
                          <a:latin typeface="Calibri"/>
                        </a:rPr>
                        <a:t>TOTAL RESERVATIONS</a:t>
                      </a:r>
                      <a:endParaRPr sz="1200" b="1" i="0" dirty="0">
                        <a:solidFill>
                          <a:srgbClr val="1A1A1A"/>
                        </a:solidFill>
                        <a:latin typeface="Calibri"/>
                      </a:endParaRPr>
                    </a:p>
                  </a:txBody>
                  <a:tcPr marL="118317" marR="118317" marT="59158" marB="59158" anchor="b">
                    <a:solidFill>
                      <a:srgbClr val="F5C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1" dirty="0">
                          <a:solidFill>
                            <a:srgbClr val="1A1A1A"/>
                          </a:solidFill>
                          <a:latin typeface="Calibri"/>
                        </a:rPr>
                        <a:t>% Unused</a:t>
                      </a:r>
                    </a:p>
                  </a:txBody>
                  <a:tcPr marL="118317" marR="118317" marT="59158" marB="59158" anchor="b">
                    <a:solidFill>
                      <a:srgbClr val="F5C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1" dirty="0">
                          <a:solidFill>
                            <a:srgbClr val="1A1A1A"/>
                          </a:solidFill>
                          <a:latin typeface="Calibri"/>
                        </a:rPr>
                        <a:t>Gross
Conv %</a:t>
                      </a:r>
                    </a:p>
                  </a:txBody>
                  <a:tcPr marL="118317" marR="118317" marT="59158" marB="59158" anchor="b">
                    <a:solidFill>
                      <a:srgbClr val="F5C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1" dirty="0">
                          <a:solidFill>
                            <a:srgbClr val="1A1A1A"/>
                          </a:solidFill>
                          <a:latin typeface="Calibri"/>
                        </a:rPr>
                        <a:t>Net Conv
Trail 4wk %</a:t>
                      </a:r>
                    </a:p>
                  </a:txBody>
                  <a:tcPr marL="118317" marR="118317" marT="59158" marB="59158" anchor="b">
                    <a:solidFill>
                      <a:srgbClr val="F5C4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79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17 Nov 2025</a:t>
                      </a:r>
                    </a:p>
                  </a:txBody>
                  <a:tcPr marL="118317" marR="118317" marT="59158" marB="5915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2,282</a:t>
                      </a:r>
                    </a:p>
                  </a:txBody>
                  <a:tcPr marL="118317" marR="118317" marT="59158" marB="5915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792</a:t>
                      </a:r>
                    </a:p>
                  </a:txBody>
                  <a:tcPr marL="118317" marR="118317" marT="59158" marB="5915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6E6E6E"/>
                          </a:solidFill>
                          <a:latin typeface="Calibri"/>
                        </a:rPr>
                        <a:t>3,074</a:t>
                      </a:r>
                    </a:p>
                  </a:txBody>
                  <a:tcPr marL="118317" marR="118317" marT="59158" marB="59158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1" dirty="0">
                          <a:solidFill>
                            <a:srgbClr val="1A1A1A"/>
                          </a:solidFill>
                          <a:latin typeface="Calibri"/>
                        </a:rPr>
                        <a:t>74.2%</a:t>
                      </a:r>
                    </a:p>
                  </a:txBody>
                  <a:tcPr marL="118317" marR="118317" marT="59158" marB="5915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146</a:t>
                      </a:r>
                    </a:p>
                  </a:txBody>
                  <a:tcPr marL="118317" marR="118317" marT="59158" marB="5915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3,220</a:t>
                      </a:r>
                    </a:p>
                  </a:txBody>
                  <a:tcPr marL="118317" marR="118317" marT="59158" marB="5915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1" dirty="0">
                          <a:solidFill>
                            <a:srgbClr val="1A1A1A"/>
                          </a:solidFill>
                          <a:latin typeface="Calibri"/>
                        </a:rPr>
                        <a:t>4.5%</a:t>
                      </a:r>
                    </a:p>
                  </a:txBody>
                  <a:tcPr marL="118317" marR="118317" marT="59158" marB="5915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1" dirty="0">
                          <a:solidFill>
                            <a:srgbClr val="1A1A1A"/>
                          </a:solidFill>
                          <a:latin typeface="Calibri"/>
                        </a:rPr>
                        <a:t>70.9%</a:t>
                      </a:r>
                    </a:p>
                  </a:txBody>
                  <a:tcPr marL="118317" marR="118317" marT="59158" marB="5915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1" dirty="0">
                          <a:solidFill>
                            <a:srgbClr val="6E6E6E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118317" marR="118317" marT="59158" marB="5915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579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24 Nov 2025</a:t>
                      </a:r>
                    </a:p>
                  </a:txBody>
                  <a:tcPr marL="118317" marR="118317" marT="59158" marB="5915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7,635</a:t>
                      </a:r>
                    </a:p>
                  </a:txBody>
                  <a:tcPr marL="118317" marR="118317" marT="59158" marB="5915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2,440</a:t>
                      </a:r>
                    </a:p>
                  </a:txBody>
                  <a:tcPr marL="118317" marR="118317" marT="59158" marB="5915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6E6E6E"/>
                          </a:solidFill>
                          <a:latin typeface="Calibri"/>
                        </a:rPr>
                        <a:t>10,075</a:t>
                      </a:r>
                    </a:p>
                  </a:txBody>
                  <a:tcPr marL="118317" marR="118317" marT="59158" marB="59158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1" dirty="0">
                          <a:solidFill>
                            <a:srgbClr val="1A1A1A"/>
                          </a:solidFill>
                          <a:latin typeface="Calibri"/>
                        </a:rPr>
                        <a:t>75.8%</a:t>
                      </a:r>
                    </a:p>
                  </a:txBody>
                  <a:tcPr marL="118317" marR="118317" marT="59158" marB="5915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349</a:t>
                      </a:r>
                    </a:p>
                  </a:txBody>
                  <a:tcPr marL="118317" marR="118317" marT="59158" marB="5915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10,424</a:t>
                      </a:r>
                    </a:p>
                  </a:txBody>
                  <a:tcPr marL="118317" marR="118317" marT="59158" marB="5915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1" dirty="0">
                          <a:solidFill>
                            <a:srgbClr val="1A1A1A"/>
                          </a:solidFill>
                          <a:latin typeface="Calibri"/>
                        </a:rPr>
                        <a:t>3.3%</a:t>
                      </a:r>
                    </a:p>
                  </a:txBody>
                  <a:tcPr marL="118317" marR="118317" marT="59158" marB="5915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1">
                          <a:solidFill>
                            <a:srgbClr val="1A1A1A"/>
                          </a:solidFill>
                          <a:latin typeface="Calibri"/>
                        </a:rPr>
                        <a:t>73.2%</a:t>
                      </a:r>
                    </a:p>
                  </a:txBody>
                  <a:tcPr marL="118317" marR="118317" marT="59158" marB="5915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1">
                          <a:solidFill>
                            <a:srgbClr val="6E6E6E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118317" marR="118317" marT="59158" marB="59158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79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01 Dec 2025</a:t>
                      </a:r>
                    </a:p>
                  </a:txBody>
                  <a:tcPr marL="118317" marR="118317" marT="59158" marB="5915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12,514</a:t>
                      </a:r>
                    </a:p>
                  </a:txBody>
                  <a:tcPr marL="118317" marR="118317" marT="59158" marB="5915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3,249</a:t>
                      </a:r>
                    </a:p>
                  </a:txBody>
                  <a:tcPr marL="118317" marR="118317" marT="59158" marB="5915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6E6E6E"/>
                          </a:solidFill>
                          <a:latin typeface="Calibri"/>
                        </a:rPr>
                        <a:t>15,763</a:t>
                      </a:r>
                    </a:p>
                  </a:txBody>
                  <a:tcPr marL="118317" marR="118317" marT="59158" marB="59158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1" dirty="0">
                          <a:solidFill>
                            <a:srgbClr val="1A1A1A"/>
                          </a:solidFill>
                          <a:latin typeface="Calibri"/>
                        </a:rPr>
                        <a:t>79.4%</a:t>
                      </a:r>
                    </a:p>
                  </a:txBody>
                  <a:tcPr marL="118317" marR="118317" marT="59158" marB="5915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676</a:t>
                      </a:r>
                    </a:p>
                  </a:txBody>
                  <a:tcPr marL="118317" marR="118317" marT="59158" marB="5915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16,439</a:t>
                      </a:r>
                    </a:p>
                  </a:txBody>
                  <a:tcPr marL="118317" marR="118317" marT="59158" marB="5915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1" dirty="0">
                          <a:solidFill>
                            <a:srgbClr val="1A1A1A"/>
                          </a:solidFill>
                          <a:latin typeface="Calibri"/>
                        </a:rPr>
                        <a:t>4.1%</a:t>
                      </a:r>
                    </a:p>
                  </a:txBody>
                  <a:tcPr marL="118317" marR="118317" marT="59158" marB="5915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1">
                          <a:solidFill>
                            <a:srgbClr val="1A1A1A"/>
                          </a:solidFill>
                          <a:latin typeface="Calibri"/>
                        </a:rPr>
                        <a:t>76.1%</a:t>
                      </a:r>
                    </a:p>
                  </a:txBody>
                  <a:tcPr marL="118317" marR="118317" marT="59158" marB="5915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1">
                          <a:solidFill>
                            <a:srgbClr val="6E6E6E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118317" marR="118317" marT="59158" marB="5915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79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08 Dec 2025</a:t>
                      </a:r>
                    </a:p>
                  </a:txBody>
                  <a:tcPr marL="118317" marR="118317" marT="59158" marB="5915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11,669</a:t>
                      </a:r>
                    </a:p>
                  </a:txBody>
                  <a:tcPr marL="118317" marR="118317" marT="59158" marB="5915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3,202</a:t>
                      </a:r>
                    </a:p>
                  </a:txBody>
                  <a:tcPr marL="118317" marR="118317" marT="59158" marB="5915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6E6E6E"/>
                          </a:solidFill>
                          <a:latin typeface="Calibri"/>
                        </a:rPr>
                        <a:t>14,871</a:t>
                      </a:r>
                    </a:p>
                  </a:txBody>
                  <a:tcPr marL="118317" marR="118317" marT="59158" marB="59158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1">
                          <a:solidFill>
                            <a:srgbClr val="1A1A1A"/>
                          </a:solidFill>
                          <a:latin typeface="Calibri"/>
                        </a:rPr>
                        <a:t>78.5%</a:t>
                      </a:r>
                    </a:p>
                  </a:txBody>
                  <a:tcPr marL="118317" marR="118317" marT="59158" marB="5915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675</a:t>
                      </a:r>
                    </a:p>
                  </a:txBody>
                  <a:tcPr marL="118317" marR="118317" marT="59158" marB="5915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15,546</a:t>
                      </a:r>
                    </a:p>
                  </a:txBody>
                  <a:tcPr marL="118317" marR="118317" marT="59158" marB="5915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1">
                          <a:solidFill>
                            <a:srgbClr val="1A1A1A"/>
                          </a:solidFill>
                          <a:latin typeface="Calibri"/>
                        </a:rPr>
                        <a:t>4.3%</a:t>
                      </a:r>
                    </a:p>
                  </a:txBody>
                  <a:tcPr marL="118317" marR="118317" marT="59158" marB="5915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1">
                          <a:solidFill>
                            <a:srgbClr val="1A1A1A"/>
                          </a:solidFill>
                          <a:latin typeface="Calibri"/>
                        </a:rPr>
                        <a:t>75.1%</a:t>
                      </a:r>
                    </a:p>
                  </a:txBody>
                  <a:tcPr marL="118317" marR="118317" marT="59158" marB="5915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1">
                          <a:solidFill>
                            <a:srgbClr val="1A1A1A"/>
                          </a:solidFill>
                          <a:latin typeface="Calibri"/>
                        </a:rPr>
                        <a:t>77.9%</a:t>
                      </a:r>
                    </a:p>
                  </a:txBody>
                  <a:tcPr marL="118317" marR="118317" marT="59158" marB="59158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579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15 Dec 2025</a:t>
                      </a:r>
                    </a:p>
                  </a:txBody>
                  <a:tcPr marL="118317" marR="118317" marT="59158" marB="5915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11,016</a:t>
                      </a:r>
                    </a:p>
                  </a:txBody>
                  <a:tcPr marL="118317" marR="118317" marT="59158" marB="5915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3,010</a:t>
                      </a:r>
                    </a:p>
                  </a:txBody>
                  <a:tcPr marL="118317" marR="118317" marT="59158" marB="5915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6E6E6E"/>
                          </a:solidFill>
                          <a:latin typeface="Calibri"/>
                        </a:rPr>
                        <a:t>14,026</a:t>
                      </a:r>
                    </a:p>
                  </a:txBody>
                  <a:tcPr marL="118317" marR="118317" marT="59158" marB="59158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1" dirty="0">
                          <a:solidFill>
                            <a:srgbClr val="1A1A1A"/>
                          </a:solidFill>
                          <a:latin typeface="Calibri"/>
                        </a:rPr>
                        <a:t>78.5%</a:t>
                      </a:r>
                    </a:p>
                  </a:txBody>
                  <a:tcPr marL="118317" marR="118317" marT="59158" marB="5915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782</a:t>
                      </a:r>
                    </a:p>
                  </a:txBody>
                  <a:tcPr marL="118317" marR="118317" marT="59158" marB="5915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14,808</a:t>
                      </a:r>
                    </a:p>
                  </a:txBody>
                  <a:tcPr marL="118317" marR="118317" marT="59158" marB="5915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1" dirty="0">
                          <a:solidFill>
                            <a:srgbClr val="1A1A1A"/>
                          </a:solidFill>
                          <a:latin typeface="Calibri"/>
                        </a:rPr>
                        <a:t>5.3%</a:t>
                      </a:r>
                    </a:p>
                  </a:txBody>
                  <a:tcPr marL="118317" marR="118317" marT="59158" marB="5915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1">
                          <a:solidFill>
                            <a:srgbClr val="1A1A1A"/>
                          </a:solidFill>
                          <a:latin typeface="Calibri"/>
                        </a:rPr>
                        <a:t>74.4%</a:t>
                      </a:r>
                    </a:p>
                  </a:txBody>
                  <a:tcPr marL="118317" marR="118317" marT="59158" marB="5915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1">
                          <a:solidFill>
                            <a:srgbClr val="1A1A1A"/>
                          </a:solidFill>
                          <a:latin typeface="Calibri"/>
                        </a:rPr>
                        <a:t>78.3%</a:t>
                      </a:r>
                    </a:p>
                  </a:txBody>
                  <a:tcPr marL="118317" marR="118317" marT="59158" marB="5915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79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22 Dec 2025</a:t>
                      </a:r>
                    </a:p>
                  </a:txBody>
                  <a:tcPr marL="118317" marR="118317" marT="59158" marB="5915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6,485</a:t>
                      </a:r>
                    </a:p>
                  </a:txBody>
                  <a:tcPr marL="118317" marR="118317" marT="59158" marB="5915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1,998</a:t>
                      </a:r>
                    </a:p>
                  </a:txBody>
                  <a:tcPr marL="118317" marR="118317" marT="59158" marB="5915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6E6E6E"/>
                          </a:solidFill>
                          <a:latin typeface="Calibri"/>
                        </a:rPr>
                        <a:t>8,483</a:t>
                      </a:r>
                    </a:p>
                  </a:txBody>
                  <a:tcPr marL="118317" marR="118317" marT="59158" marB="59158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1" dirty="0">
                          <a:solidFill>
                            <a:srgbClr val="1A1A1A"/>
                          </a:solidFill>
                          <a:latin typeface="Calibri"/>
                        </a:rPr>
                        <a:t>76.4%</a:t>
                      </a:r>
                    </a:p>
                  </a:txBody>
                  <a:tcPr marL="118317" marR="118317" marT="59158" marB="5915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498</a:t>
                      </a:r>
                    </a:p>
                  </a:txBody>
                  <a:tcPr marL="118317" marR="118317" marT="59158" marB="5915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8,981</a:t>
                      </a:r>
                    </a:p>
                  </a:txBody>
                  <a:tcPr marL="118317" marR="118317" marT="59158" marB="5915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1" dirty="0">
                          <a:solidFill>
                            <a:srgbClr val="1A1A1A"/>
                          </a:solidFill>
                          <a:latin typeface="Calibri"/>
                        </a:rPr>
                        <a:t>5.5%</a:t>
                      </a:r>
                    </a:p>
                  </a:txBody>
                  <a:tcPr marL="118317" marR="118317" marT="59158" marB="5915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1">
                          <a:solidFill>
                            <a:srgbClr val="1A1A1A"/>
                          </a:solidFill>
                          <a:latin typeface="Calibri"/>
                        </a:rPr>
                        <a:t>72.2%</a:t>
                      </a:r>
                    </a:p>
                  </a:txBody>
                  <a:tcPr marL="118317" marR="118317" marT="59158" marB="5915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1">
                          <a:solidFill>
                            <a:srgbClr val="1A1A1A"/>
                          </a:solidFill>
                          <a:latin typeface="Calibri"/>
                        </a:rPr>
                        <a:t>78.4%</a:t>
                      </a:r>
                    </a:p>
                  </a:txBody>
                  <a:tcPr marL="118317" marR="118317" marT="59158" marB="59158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579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29 Dec 2025</a:t>
                      </a:r>
                    </a:p>
                  </a:txBody>
                  <a:tcPr marL="118317" marR="118317" marT="59158" marB="5915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8,382</a:t>
                      </a:r>
                    </a:p>
                  </a:txBody>
                  <a:tcPr marL="118317" marR="118317" marT="59158" marB="5915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2,242</a:t>
                      </a:r>
                    </a:p>
                  </a:txBody>
                  <a:tcPr marL="118317" marR="118317" marT="59158" marB="5915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6E6E6E"/>
                          </a:solidFill>
                          <a:latin typeface="Calibri"/>
                        </a:rPr>
                        <a:t>10,624</a:t>
                      </a:r>
                    </a:p>
                  </a:txBody>
                  <a:tcPr marL="118317" marR="118317" marT="59158" marB="59158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1" dirty="0">
                          <a:solidFill>
                            <a:srgbClr val="1A1A1A"/>
                          </a:solidFill>
                          <a:latin typeface="Calibri"/>
                        </a:rPr>
                        <a:t>78.9%</a:t>
                      </a:r>
                    </a:p>
                  </a:txBody>
                  <a:tcPr marL="118317" marR="118317" marT="59158" marB="5915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606</a:t>
                      </a:r>
                    </a:p>
                  </a:txBody>
                  <a:tcPr marL="118317" marR="118317" marT="59158" marB="5915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11,230</a:t>
                      </a:r>
                    </a:p>
                  </a:txBody>
                  <a:tcPr marL="118317" marR="118317" marT="59158" marB="5915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1">
                          <a:solidFill>
                            <a:srgbClr val="1A1A1A"/>
                          </a:solidFill>
                          <a:latin typeface="Calibri"/>
                        </a:rPr>
                        <a:t>5.4%</a:t>
                      </a:r>
                    </a:p>
                  </a:txBody>
                  <a:tcPr marL="118317" marR="118317" marT="59158" marB="5915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1">
                          <a:solidFill>
                            <a:srgbClr val="1A1A1A"/>
                          </a:solidFill>
                          <a:latin typeface="Calibri"/>
                        </a:rPr>
                        <a:t>74.6%</a:t>
                      </a:r>
                    </a:p>
                  </a:txBody>
                  <a:tcPr marL="118317" marR="118317" marT="59158" marB="5915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1">
                          <a:solidFill>
                            <a:srgbClr val="1A1A1A"/>
                          </a:solidFill>
                          <a:latin typeface="Calibri"/>
                        </a:rPr>
                        <a:t>78.2%</a:t>
                      </a:r>
                    </a:p>
                  </a:txBody>
                  <a:tcPr marL="118317" marR="118317" marT="59158" marB="5915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79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05 Jan 2026</a:t>
                      </a:r>
                    </a:p>
                  </a:txBody>
                  <a:tcPr marL="118317" marR="118317" marT="59158" marB="5915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12,230</a:t>
                      </a:r>
                    </a:p>
                  </a:txBody>
                  <a:tcPr marL="118317" marR="118317" marT="59158" marB="5915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2,739</a:t>
                      </a:r>
                    </a:p>
                  </a:txBody>
                  <a:tcPr marL="118317" marR="118317" marT="59158" marB="5915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6E6E6E"/>
                          </a:solidFill>
                          <a:latin typeface="Calibri"/>
                        </a:rPr>
                        <a:t>14,969</a:t>
                      </a:r>
                    </a:p>
                  </a:txBody>
                  <a:tcPr marL="118317" marR="118317" marT="59158" marB="59158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1" dirty="0">
                          <a:solidFill>
                            <a:srgbClr val="1A1A1A"/>
                          </a:solidFill>
                          <a:latin typeface="Calibri"/>
                        </a:rPr>
                        <a:t>81.7%</a:t>
                      </a:r>
                    </a:p>
                  </a:txBody>
                  <a:tcPr marL="118317" marR="118317" marT="59158" marB="5915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869</a:t>
                      </a:r>
                    </a:p>
                  </a:txBody>
                  <a:tcPr marL="118317" marR="118317" marT="59158" marB="5915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15,838</a:t>
                      </a:r>
                    </a:p>
                  </a:txBody>
                  <a:tcPr marL="118317" marR="118317" marT="59158" marB="5915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1" dirty="0">
                          <a:solidFill>
                            <a:srgbClr val="1A1A1A"/>
                          </a:solidFill>
                          <a:latin typeface="Calibri"/>
                        </a:rPr>
                        <a:t>5.5%</a:t>
                      </a:r>
                    </a:p>
                  </a:txBody>
                  <a:tcPr marL="118317" marR="118317" marT="59158" marB="5915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1">
                          <a:solidFill>
                            <a:srgbClr val="1A1A1A"/>
                          </a:solidFill>
                          <a:latin typeface="Calibri"/>
                        </a:rPr>
                        <a:t>77.2%</a:t>
                      </a:r>
                    </a:p>
                  </a:txBody>
                  <a:tcPr marL="118317" marR="118317" marT="59158" marB="5915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1">
                          <a:solidFill>
                            <a:srgbClr val="1A1A1A"/>
                          </a:solidFill>
                          <a:latin typeface="Calibri"/>
                        </a:rPr>
                        <a:t>79.2%</a:t>
                      </a:r>
                    </a:p>
                  </a:txBody>
                  <a:tcPr marL="118317" marR="118317" marT="59158" marB="59158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579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12 Jan 2026</a:t>
                      </a:r>
                    </a:p>
                  </a:txBody>
                  <a:tcPr marL="118317" marR="118317" marT="59158" marB="5915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11,352</a:t>
                      </a:r>
                    </a:p>
                  </a:txBody>
                  <a:tcPr marL="118317" marR="118317" marT="59158" marB="5915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2,535</a:t>
                      </a:r>
                    </a:p>
                  </a:txBody>
                  <a:tcPr marL="118317" marR="118317" marT="59158" marB="5915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6E6E6E"/>
                          </a:solidFill>
                          <a:latin typeface="Calibri"/>
                        </a:rPr>
                        <a:t>13,887</a:t>
                      </a:r>
                    </a:p>
                  </a:txBody>
                  <a:tcPr marL="118317" marR="118317" marT="59158" marB="59158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1" dirty="0">
                          <a:solidFill>
                            <a:srgbClr val="1A1A1A"/>
                          </a:solidFill>
                          <a:latin typeface="Calibri"/>
                        </a:rPr>
                        <a:t>81.7%</a:t>
                      </a:r>
                    </a:p>
                  </a:txBody>
                  <a:tcPr marL="118317" marR="118317" marT="59158" marB="5915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1,011</a:t>
                      </a:r>
                    </a:p>
                  </a:txBody>
                  <a:tcPr marL="118317" marR="118317" marT="59158" marB="5915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14,898</a:t>
                      </a:r>
                    </a:p>
                  </a:txBody>
                  <a:tcPr marL="118317" marR="118317" marT="59158" marB="5915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1" dirty="0">
                          <a:solidFill>
                            <a:srgbClr val="1A1A1A"/>
                          </a:solidFill>
                          <a:latin typeface="Calibri"/>
                        </a:rPr>
                        <a:t>6.8%</a:t>
                      </a:r>
                    </a:p>
                  </a:txBody>
                  <a:tcPr marL="118317" marR="118317" marT="59158" marB="5915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1">
                          <a:solidFill>
                            <a:srgbClr val="1A1A1A"/>
                          </a:solidFill>
                          <a:latin typeface="Calibri"/>
                        </a:rPr>
                        <a:t>76.2%</a:t>
                      </a:r>
                    </a:p>
                  </a:txBody>
                  <a:tcPr marL="118317" marR="118317" marT="59158" marB="5915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1">
                          <a:solidFill>
                            <a:srgbClr val="1A1A1A"/>
                          </a:solidFill>
                          <a:latin typeface="Calibri"/>
                        </a:rPr>
                        <a:t>80.2%</a:t>
                      </a:r>
                    </a:p>
                  </a:txBody>
                  <a:tcPr marL="118317" marR="118317" marT="59158" marB="5915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579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19 Jan 2026</a:t>
                      </a:r>
                    </a:p>
                  </a:txBody>
                  <a:tcPr marL="118317" marR="118317" marT="59158" marB="5915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10,518</a:t>
                      </a:r>
                    </a:p>
                  </a:txBody>
                  <a:tcPr marL="118317" marR="118317" marT="59158" marB="5915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2,177</a:t>
                      </a:r>
                    </a:p>
                  </a:txBody>
                  <a:tcPr marL="118317" marR="118317" marT="59158" marB="5915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6E6E6E"/>
                          </a:solidFill>
                          <a:latin typeface="Calibri"/>
                        </a:rPr>
                        <a:t>12,695</a:t>
                      </a:r>
                    </a:p>
                  </a:txBody>
                  <a:tcPr marL="118317" marR="118317" marT="59158" marB="59158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1" dirty="0">
                          <a:solidFill>
                            <a:srgbClr val="1A1A1A"/>
                          </a:solidFill>
                          <a:latin typeface="Calibri"/>
                        </a:rPr>
                        <a:t>82.9%</a:t>
                      </a:r>
                    </a:p>
                  </a:txBody>
                  <a:tcPr marL="118317" marR="118317" marT="59158" marB="5915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1,154</a:t>
                      </a:r>
                    </a:p>
                  </a:txBody>
                  <a:tcPr marL="118317" marR="118317" marT="59158" marB="5915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13,849</a:t>
                      </a:r>
                    </a:p>
                  </a:txBody>
                  <a:tcPr marL="118317" marR="118317" marT="59158" marB="5915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1" dirty="0">
                          <a:solidFill>
                            <a:srgbClr val="1A1A1A"/>
                          </a:solidFill>
                          <a:latin typeface="Calibri"/>
                        </a:rPr>
                        <a:t>8.3%</a:t>
                      </a:r>
                    </a:p>
                  </a:txBody>
                  <a:tcPr marL="118317" marR="118317" marT="59158" marB="5915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1">
                          <a:solidFill>
                            <a:srgbClr val="1A1A1A"/>
                          </a:solidFill>
                          <a:latin typeface="Calibri"/>
                        </a:rPr>
                        <a:t>75.9%</a:t>
                      </a:r>
                    </a:p>
                  </a:txBody>
                  <a:tcPr marL="118317" marR="118317" marT="59158" marB="5915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1">
                          <a:solidFill>
                            <a:srgbClr val="1A1A1A"/>
                          </a:solidFill>
                          <a:latin typeface="Calibri"/>
                        </a:rPr>
                        <a:t>81.4%</a:t>
                      </a:r>
                    </a:p>
                  </a:txBody>
                  <a:tcPr marL="118317" marR="118317" marT="59158" marB="59158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579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26 Jan 2026</a:t>
                      </a:r>
                    </a:p>
                  </a:txBody>
                  <a:tcPr marL="118317" marR="118317" marT="59158" marB="5915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10,362</a:t>
                      </a:r>
                    </a:p>
                  </a:txBody>
                  <a:tcPr marL="118317" marR="118317" marT="59158" marB="5915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2,205</a:t>
                      </a:r>
                    </a:p>
                  </a:txBody>
                  <a:tcPr marL="118317" marR="118317" marT="59158" marB="5915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6E6E6E"/>
                          </a:solidFill>
                          <a:latin typeface="Calibri"/>
                        </a:rPr>
                        <a:t>12,567</a:t>
                      </a:r>
                    </a:p>
                  </a:txBody>
                  <a:tcPr marL="118317" marR="118317" marT="59158" marB="59158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1" dirty="0">
                          <a:solidFill>
                            <a:srgbClr val="1A1A1A"/>
                          </a:solidFill>
                          <a:latin typeface="Calibri"/>
                        </a:rPr>
                        <a:t>82.5%</a:t>
                      </a:r>
                    </a:p>
                  </a:txBody>
                  <a:tcPr marL="118317" marR="118317" marT="59158" marB="5915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1,480</a:t>
                      </a:r>
                    </a:p>
                  </a:txBody>
                  <a:tcPr marL="118317" marR="118317" marT="59158" marB="5915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14,047</a:t>
                      </a:r>
                    </a:p>
                  </a:txBody>
                  <a:tcPr marL="118317" marR="118317" marT="59158" marB="5915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1" dirty="0">
                          <a:solidFill>
                            <a:srgbClr val="FF0000"/>
                          </a:solidFill>
                          <a:latin typeface="Calibri"/>
                        </a:rPr>
                        <a:t>10.5%</a:t>
                      </a:r>
                    </a:p>
                  </a:txBody>
                  <a:tcPr marL="118317" marR="118317" marT="59158" marB="5915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1">
                          <a:solidFill>
                            <a:srgbClr val="1A1A1A"/>
                          </a:solidFill>
                          <a:latin typeface="Calibri"/>
                        </a:rPr>
                        <a:t>73.8%</a:t>
                      </a:r>
                    </a:p>
                  </a:txBody>
                  <a:tcPr marL="118317" marR="118317" marT="59158" marB="5915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1">
                          <a:solidFill>
                            <a:srgbClr val="1A1A1A"/>
                          </a:solidFill>
                          <a:latin typeface="Calibri"/>
                        </a:rPr>
                        <a:t>82.2%</a:t>
                      </a:r>
                    </a:p>
                  </a:txBody>
                  <a:tcPr marL="118317" marR="118317" marT="59158" marB="5915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579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02 Feb 2026</a:t>
                      </a:r>
                    </a:p>
                  </a:txBody>
                  <a:tcPr marL="118317" marR="118317" marT="59158" marB="5915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11,129</a:t>
                      </a:r>
                    </a:p>
                  </a:txBody>
                  <a:tcPr marL="118317" marR="118317" marT="59158" marB="5915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1,952</a:t>
                      </a:r>
                    </a:p>
                  </a:txBody>
                  <a:tcPr marL="118317" marR="118317" marT="59158" marB="5915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6E6E6E"/>
                          </a:solidFill>
                          <a:latin typeface="Calibri"/>
                        </a:rPr>
                        <a:t>13,081</a:t>
                      </a:r>
                    </a:p>
                  </a:txBody>
                  <a:tcPr marL="118317" marR="118317" marT="59158" marB="59158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1" dirty="0">
                          <a:solidFill>
                            <a:srgbClr val="1A1A1A"/>
                          </a:solidFill>
                          <a:latin typeface="Calibri"/>
                        </a:rPr>
                        <a:t>85.1%</a:t>
                      </a:r>
                    </a:p>
                  </a:txBody>
                  <a:tcPr marL="118317" marR="118317" marT="59158" marB="5915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2,268</a:t>
                      </a:r>
                    </a:p>
                  </a:txBody>
                  <a:tcPr marL="118317" marR="118317" marT="59158" marB="5915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15,349</a:t>
                      </a:r>
                    </a:p>
                  </a:txBody>
                  <a:tcPr marL="118317" marR="118317" marT="59158" marB="5915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1" dirty="0">
                          <a:solidFill>
                            <a:srgbClr val="FF0000"/>
                          </a:solidFill>
                          <a:latin typeface="Calibri"/>
                        </a:rPr>
                        <a:t>14.8%</a:t>
                      </a:r>
                    </a:p>
                  </a:txBody>
                  <a:tcPr marL="118317" marR="118317" marT="59158" marB="5915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1">
                          <a:solidFill>
                            <a:srgbClr val="1A1A1A"/>
                          </a:solidFill>
                          <a:latin typeface="Calibri"/>
                        </a:rPr>
                        <a:t>72.5%</a:t>
                      </a:r>
                    </a:p>
                  </a:txBody>
                  <a:tcPr marL="118317" marR="118317" marT="59158" marB="5915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1">
                          <a:solidFill>
                            <a:srgbClr val="1A1A1A"/>
                          </a:solidFill>
                          <a:latin typeface="Calibri"/>
                        </a:rPr>
                        <a:t>83.0%</a:t>
                      </a:r>
                    </a:p>
                  </a:txBody>
                  <a:tcPr marL="118317" marR="118317" marT="59158" marB="59158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579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09 Feb 2026</a:t>
                      </a:r>
                    </a:p>
                  </a:txBody>
                  <a:tcPr marL="118317" marR="118317" marT="59158" marB="5915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9,249</a:t>
                      </a:r>
                    </a:p>
                  </a:txBody>
                  <a:tcPr marL="118317" marR="118317" marT="59158" marB="5915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1,436</a:t>
                      </a:r>
                    </a:p>
                  </a:txBody>
                  <a:tcPr marL="118317" marR="118317" marT="59158" marB="5915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6E6E6E"/>
                          </a:solidFill>
                          <a:latin typeface="Calibri"/>
                        </a:rPr>
                        <a:t>10,685</a:t>
                      </a:r>
                    </a:p>
                  </a:txBody>
                  <a:tcPr marL="118317" marR="118317" marT="59158" marB="59158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1" dirty="0">
                          <a:solidFill>
                            <a:srgbClr val="1A1A1A"/>
                          </a:solidFill>
                          <a:latin typeface="Calibri"/>
                        </a:rPr>
                        <a:t>86.6%</a:t>
                      </a:r>
                    </a:p>
                  </a:txBody>
                  <a:tcPr marL="118317" marR="118317" marT="59158" marB="5915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4,355</a:t>
                      </a:r>
                    </a:p>
                  </a:txBody>
                  <a:tcPr marL="118317" marR="118317" marT="59158" marB="5915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15,040</a:t>
                      </a:r>
                    </a:p>
                  </a:txBody>
                  <a:tcPr marL="118317" marR="118317" marT="59158" marB="5915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1" dirty="0">
                          <a:solidFill>
                            <a:srgbClr val="FF0000"/>
                          </a:solidFill>
                          <a:latin typeface="Calibri"/>
                        </a:rPr>
                        <a:t>29.0%</a:t>
                      </a:r>
                    </a:p>
                  </a:txBody>
                  <a:tcPr marL="118317" marR="118317" marT="59158" marB="5915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1">
                          <a:solidFill>
                            <a:srgbClr val="1A1A1A"/>
                          </a:solidFill>
                          <a:latin typeface="Calibri"/>
                        </a:rPr>
                        <a:t>61.5%</a:t>
                      </a:r>
                    </a:p>
                  </a:txBody>
                  <a:tcPr marL="118317" marR="118317" marT="59158" marB="5915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1">
                          <a:solidFill>
                            <a:srgbClr val="1A1A1A"/>
                          </a:solidFill>
                          <a:latin typeface="Calibri"/>
                        </a:rPr>
                        <a:t>84.2%</a:t>
                      </a:r>
                    </a:p>
                  </a:txBody>
                  <a:tcPr marL="118317" marR="118317" marT="59158" marB="5915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579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16 Feb 2026</a:t>
                      </a:r>
                    </a:p>
                  </a:txBody>
                  <a:tcPr marL="118317" marR="118317" marT="59158" marB="5915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118317" marR="118317" marT="59158" marB="5915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118317" marR="118317" marT="59158" marB="5915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6E6E6E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118317" marR="118317" marT="59158" marB="59158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1" dirty="0">
                          <a:solidFill>
                            <a:srgbClr val="1A1A1A"/>
                          </a:solidFill>
                          <a:latin typeface="Calibri"/>
                        </a:rPr>
                        <a:t>50.0%</a:t>
                      </a:r>
                    </a:p>
                  </a:txBody>
                  <a:tcPr marL="118317" marR="118317" marT="59158" marB="5915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118317" marR="118317" marT="59158" marB="5915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118317" marR="118317" marT="59158" marB="5915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1" dirty="0">
                          <a:solidFill>
                            <a:srgbClr val="FF0000"/>
                          </a:solidFill>
                          <a:latin typeface="Calibri"/>
                        </a:rPr>
                        <a:t>69.2%</a:t>
                      </a:r>
                    </a:p>
                  </a:txBody>
                  <a:tcPr marL="118317" marR="118317" marT="59158" marB="5915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1" dirty="0">
                          <a:solidFill>
                            <a:srgbClr val="1A1A1A"/>
                          </a:solidFill>
                          <a:latin typeface="Calibri"/>
                        </a:rPr>
                        <a:t>15.4%</a:t>
                      </a:r>
                    </a:p>
                  </a:txBody>
                  <a:tcPr marL="118317" marR="118317" marT="59158" marB="5915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1">
                          <a:solidFill>
                            <a:srgbClr val="1A1A1A"/>
                          </a:solidFill>
                          <a:latin typeface="Calibri"/>
                        </a:rPr>
                        <a:t>84.6%</a:t>
                      </a:r>
                    </a:p>
                  </a:txBody>
                  <a:tcPr marL="118317" marR="118317" marT="59158" marB="59158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473267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A1A1A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118317" marR="118317" marT="59158" marB="5915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 i="0">
                          <a:solidFill>
                            <a:srgbClr val="1A1A1A"/>
                          </a:solidFill>
                          <a:latin typeface="Calibri"/>
                        </a:rPr>
                        <a:t>124,825</a:t>
                      </a:r>
                    </a:p>
                  </a:txBody>
                  <a:tcPr marL="118317" marR="118317" marT="59158" marB="5915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 i="0">
                          <a:solidFill>
                            <a:srgbClr val="1A1A1A"/>
                          </a:solidFill>
                          <a:latin typeface="Calibri"/>
                        </a:rPr>
                        <a:t>29,979</a:t>
                      </a:r>
                    </a:p>
                  </a:txBody>
                  <a:tcPr marL="118317" marR="118317" marT="59158" marB="5915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 dirty="0">
                          <a:solidFill>
                            <a:srgbClr val="6E6E6E"/>
                          </a:solidFill>
                          <a:latin typeface="Calibri"/>
                        </a:rPr>
                        <a:t>154,804</a:t>
                      </a:r>
                    </a:p>
                  </a:txBody>
                  <a:tcPr marL="118317" marR="118317" marT="59158" marB="59158"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1" dirty="0">
                          <a:solidFill>
                            <a:srgbClr val="1A1A1A"/>
                          </a:solidFill>
                          <a:latin typeface="Calibri"/>
                        </a:rPr>
                        <a:t>80.6%</a:t>
                      </a:r>
                    </a:p>
                  </a:txBody>
                  <a:tcPr marL="118317" marR="118317" marT="59158" marB="5915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 i="0">
                          <a:solidFill>
                            <a:srgbClr val="1A1A1A"/>
                          </a:solidFill>
                          <a:latin typeface="Calibri"/>
                        </a:rPr>
                        <a:t>14,878</a:t>
                      </a:r>
                    </a:p>
                  </a:txBody>
                  <a:tcPr marL="118317" marR="118317" marT="59158" marB="5915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 dirty="0">
                          <a:solidFill>
                            <a:srgbClr val="1A1A1A"/>
                          </a:solidFill>
                          <a:latin typeface="Calibri"/>
                        </a:rPr>
                        <a:t>169,682</a:t>
                      </a:r>
                    </a:p>
                  </a:txBody>
                  <a:tcPr marL="118317" marR="118317" marT="59158" marB="5915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1" dirty="0">
                          <a:solidFill>
                            <a:srgbClr val="1A1A1A"/>
                          </a:solidFill>
                          <a:latin typeface="Calibri"/>
                        </a:rPr>
                        <a:t>8.8%</a:t>
                      </a:r>
                    </a:p>
                  </a:txBody>
                  <a:tcPr marL="118317" marR="118317" marT="59158" marB="5915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1" dirty="0">
                          <a:solidFill>
                            <a:srgbClr val="1A1A1A"/>
                          </a:solidFill>
                          <a:latin typeface="Calibri"/>
                        </a:rPr>
                        <a:t>73.6%</a:t>
                      </a:r>
                    </a:p>
                  </a:txBody>
                  <a:tcPr marL="118317" marR="118317" marT="59158" marB="5915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300" b="0" i="1" dirty="0"/>
                    </a:p>
                  </a:txBody>
                  <a:tcPr marL="118317" marR="118317" marT="59158" marB="59158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7680960"/>
            <a:ext cx="1280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6E6E6E"/>
                </a:solidFill>
                <a:latin typeface="Calibri"/>
              </a:rPr>
              <a:t>Note: Feb 9 &amp; Feb 16 weeks are incomplete — high % Unused reflects reservations still being worked, not true no-shows.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532921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>
                <a:solidFill>
                  <a:srgbClr val="1A1A1A"/>
                </a:solidFill>
                <a:latin typeface="Calibri"/>
              </a:rPr>
              <a:t>IR Weekly Conversion Summary</a:t>
            </a:r>
            <a:r>
              <a:rPr lang="en-AU" sz="2400" b="1" dirty="0">
                <a:solidFill>
                  <a:srgbClr val="1A1A1A"/>
                </a:solidFill>
                <a:latin typeface="Calibri"/>
              </a:rPr>
              <a:t> (Chad’s)</a:t>
            </a:r>
            <a:endParaRPr sz="2400" b="1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280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  <a:latin typeface="Calibri"/>
              </a:rPr>
              <a:t>IR Only — Dec 2025 to Feb 2026  |  Net Conversion = Rented ÷ (Rented + Cancelled)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5244548"/>
              </p:ext>
            </p:extLst>
          </p:nvPr>
        </p:nvGraphicFramePr>
        <p:xfrm>
          <a:off x="548639" y="1325880"/>
          <a:ext cx="12481552" cy="43809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670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92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92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05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63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92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264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8589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2621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 b="1" i="0" dirty="0">
                          <a:solidFill>
                            <a:srgbClr val="1A1A1A"/>
                          </a:solidFill>
                          <a:latin typeface="+mn-lt"/>
                        </a:rPr>
                        <a:t>w/c</a:t>
                      </a:r>
                    </a:p>
                  </a:txBody>
                  <a:tcPr marL="118872" marR="118872" marT="59435" marB="59435" anchor="b">
                    <a:solidFill>
                      <a:srgbClr val="F5C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1A1A1A"/>
                          </a:solidFill>
                          <a:latin typeface="Calibri"/>
                        </a:rPr>
                        <a:t>Rented</a:t>
                      </a:r>
                    </a:p>
                  </a:txBody>
                  <a:tcPr marL="118317" marR="118317" marT="59158" marB="59158" anchor="b">
                    <a:solidFill>
                      <a:srgbClr val="F5C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1A1A1A"/>
                          </a:solidFill>
                          <a:latin typeface="Calibri"/>
                        </a:rPr>
                        <a:t>Cancelled</a:t>
                      </a:r>
                    </a:p>
                  </a:txBody>
                  <a:tcPr marL="118317" marR="118317" marT="59158" marB="59158" anchor="b">
                    <a:solidFill>
                      <a:srgbClr val="F5C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400" b="1" i="0" dirty="0">
                          <a:solidFill>
                            <a:srgbClr val="1A1A1A"/>
                          </a:solidFill>
                          <a:latin typeface="Calibri"/>
                        </a:rPr>
                        <a:t>TOTAL COMPLETED</a:t>
                      </a:r>
                      <a:endParaRPr sz="1400" b="1" i="0" dirty="0">
                        <a:solidFill>
                          <a:srgbClr val="1A1A1A"/>
                        </a:solidFill>
                        <a:latin typeface="Calibri"/>
                      </a:endParaRPr>
                    </a:p>
                  </a:txBody>
                  <a:tcPr marL="118317" marR="118317" marT="59158" marB="59158" anchor="b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1" dirty="0">
                          <a:solidFill>
                            <a:srgbClr val="1A1A1A"/>
                          </a:solidFill>
                          <a:latin typeface="Calibri"/>
                        </a:rPr>
                        <a:t>Net
Conv %</a:t>
                      </a:r>
                    </a:p>
                  </a:txBody>
                  <a:tcPr marL="118317" marR="118317" marT="59158" marB="59158" anchor="b">
                    <a:solidFill>
                      <a:srgbClr val="F5C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Unused</a:t>
                      </a:r>
                    </a:p>
                  </a:txBody>
                  <a:tcPr marL="118317" marR="118317" marT="59158" marB="59158" anchor="b">
                    <a:solidFill>
                      <a:srgbClr val="F5C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400" b="1" i="0" dirty="0">
                          <a:solidFill>
                            <a:srgbClr val="1A1A1A"/>
                          </a:solidFill>
                          <a:latin typeface="Calibri"/>
                        </a:rPr>
                        <a:t>TOTAL RESERVATIONS</a:t>
                      </a:r>
                      <a:endParaRPr sz="1400" b="1" i="0" dirty="0">
                        <a:solidFill>
                          <a:srgbClr val="1A1A1A"/>
                        </a:solidFill>
                        <a:latin typeface="Calibri"/>
                      </a:endParaRPr>
                    </a:p>
                  </a:txBody>
                  <a:tcPr marL="118317" marR="118317" marT="59158" marB="59158" anchor="b">
                    <a:solidFill>
                      <a:srgbClr val="F5C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1" dirty="0">
                          <a:solidFill>
                            <a:srgbClr val="1A1A1A"/>
                          </a:solidFill>
                          <a:latin typeface="Calibri"/>
                        </a:rPr>
                        <a:t>% Unused</a:t>
                      </a:r>
                    </a:p>
                  </a:txBody>
                  <a:tcPr marL="118317" marR="118317" marT="59158" marB="59158" anchor="b">
                    <a:solidFill>
                      <a:srgbClr val="F5C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1" dirty="0">
                          <a:solidFill>
                            <a:srgbClr val="1A1A1A"/>
                          </a:solidFill>
                          <a:latin typeface="Calibri"/>
                        </a:rPr>
                        <a:t>Gross
Conv %</a:t>
                      </a:r>
                    </a:p>
                  </a:txBody>
                  <a:tcPr marL="118317" marR="118317" marT="59158" marB="59158" anchor="b">
                    <a:solidFill>
                      <a:srgbClr val="F5C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1" dirty="0">
                          <a:solidFill>
                            <a:srgbClr val="1A1A1A"/>
                          </a:solidFill>
                          <a:latin typeface="Calibri"/>
                        </a:rPr>
                        <a:t>Net Conv
Trail 4wk %</a:t>
                      </a:r>
                    </a:p>
                  </a:txBody>
                  <a:tcPr marL="118317" marR="118317" marT="59158" marB="59158" anchor="b">
                    <a:solidFill>
                      <a:srgbClr val="F5C4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212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22 Dec 2025</a:t>
                      </a:r>
                    </a:p>
                  </a:txBody>
                  <a:tcPr marL="118872" marR="118872" marT="59435" marB="5943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3,452</a:t>
                      </a:r>
                    </a:p>
                  </a:txBody>
                  <a:tcPr marL="118872" marR="118872" marT="59435" marB="5943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1,608</a:t>
                      </a:r>
                    </a:p>
                  </a:txBody>
                  <a:tcPr marL="118872" marR="118872" marT="59435" marB="5943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6E6E6E"/>
                          </a:solidFill>
                          <a:latin typeface="Calibri"/>
                        </a:rPr>
                        <a:t>5,060</a:t>
                      </a:r>
                    </a:p>
                  </a:txBody>
                  <a:tcPr marL="118872" marR="118872" marT="59435" marB="59435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1" dirty="0">
                          <a:solidFill>
                            <a:srgbClr val="1A1A1A"/>
                          </a:solidFill>
                          <a:latin typeface="Calibri"/>
                        </a:rPr>
                        <a:t>68.2%</a:t>
                      </a:r>
                    </a:p>
                  </a:txBody>
                  <a:tcPr marL="118872" marR="118872" marT="59435" marB="5943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383</a:t>
                      </a:r>
                    </a:p>
                  </a:txBody>
                  <a:tcPr marL="118872" marR="118872" marT="59435" marB="5943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5,443</a:t>
                      </a:r>
                    </a:p>
                  </a:txBody>
                  <a:tcPr marL="118872" marR="118872" marT="59435" marB="5943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1" dirty="0">
                          <a:solidFill>
                            <a:srgbClr val="1A1A1A"/>
                          </a:solidFill>
                          <a:latin typeface="Calibri"/>
                        </a:rPr>
                        <a:t>7.0%</a:t>
                      </a:r>
                    </a:p>
                  </a:txBody>
                  <a:tcPr marL="118872" marR="118872" marT="59435" marB="5943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1" dirty="0">
                          <a:solidFill>
                            <a:srgbClr val="1A1A1A"/>
                          </a:solidFill>
                          <a:latin typeface="Calibri"/>
                        </a:rPr>
                        <a:t>63.4%</a:t>
                      </a:r>
                    </a:p>
                  </a:txBody>
                  <a:tcPr marL="118872" marR="118872" marT="59435" marB="5943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1" dirty="0">
                          <a:solidFill>
                            <a:srgbClr val="6E6E6E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118872" marR="118872" marT="59435" marB="5943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212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29 Dec 2025</a:t>
                      </a:r>
                    </a:p>
                  </a:txBody>
                  <a:tcPr marL="118872" marR="118872" marT="59435" marB="59435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4,236</a:t>
                      </a:r>
                    </a:p>
                  </a:txBody>
                  <a:tcPr marL="118872" marR="118872" marT="59435" marB="59435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1,755</a:t>
                      </a:r>
                    </a:p>
                  </a:txBody>
                  <a:tcPr marL="118872" marR="118872" marT="59435" marB="59435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6E6E6E"/>
                          </a:solidFill>
                          <a:latin typeface="Calibri"/>
                        </a:rPr>
                        <a:t>5,991</a:t>
                      </a:r>
                    </a:p>
                  </a:txBody>
                  <a:tcPr marL="118872" marR="118872" marT="59435" marB="59435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1" dirty="0">
                          <a:solidFill>
                            <a:srgbClr val="1A1A1A"/>
                          </a:solidFill>
                          <a:latin typeface="Calibri"/>
                        </a:rPr>
                        <a:t>70.7%</a:t>
                      </a:r>
                    </a:p>
                  </a:txBody>
                  <a:tcPr marL="118872" marR="118872" marT="59435" marB="59435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410</a:t>
                      </a:r>
                    </a:p>
                  </a:txBody>
                  <a:tcPr marL="118872" marR="118872" marT="59435" marB="59435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6,401</a:t>
                      </a:r>
                    </a:p>
                  </a:txBody>
                  <a:tcPr marL="118872" marR="118872" marT="59435" marB="59435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1">
                          <a:solidFill>
                            <a:srgbClr val="1A1A1A"/>
                          </a:solidFill>
                          <a:latin typeface="Calibri"/>
                        </a:rPr>
                        <a:t>6.4%</a:t>
                      </a:r>
                    </a:p>
                  </a:txBody>
                  <a:tcPr marL="118872" marR="118872" marT="59435" marB="59435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1" dirty="0">
                          <a:solidFill>
                            <a:srgbClr val="1A1A1A"/>
                          </a:solidFill>
                          <a:latin typeface="Calibri"/>
                        </a:rPr>
                        <a:t>66.2%</a:t>
                      </a:r>
                    </a:p>
                  </a:txBody>
                  <a:tcPr marL="118872" marR="118872" marT="59435" marB="59435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1">
                          <a:solidFill>
                            <a:srgbClr val="6E6E6E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118872" marR="118872" marT="59435" marB="59435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212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05 Jan 2026</a:t>
                      </a:r>
                    </a:p>
                  </a:txBody>
                  <a:tcPr marL="118872" marR="118872" marT="59435" marB="5943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5,612</a:t>
                      </a:r>
                    </a:p>
                  </a:txBody>
                  <a:tcPr marL="118872" marR="118872" marT="59435" marB="5943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1,913</a:t>
                      </a:r>
                    </a:p>
                  </a:txBody>
                  <a:tcPr marL="118872" marR="118872" marT="59435" marB="5943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6E6E6E"/>
                          </a:solidFill>
                          <a:latin typeface="Calibri"/>
                        </a:rPr>
                        <a:t>7,525</a:t>
                      </a:r>
                    </a:p>
                  </a:txBody>
                  <a:tcPr marL="118872" marR="118872" marT="59435" marB="59435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1" dirty="0">
                          <a:solidFill>
                            <a:srgbClr val="1A1A1A"/>
                          </a:solidFill>
                          <a:latin typeface="Calibri"/>
                        </a:rPr>
                        <a:t>74.6%</a:t>
                      </a:r>
                    </a:p>
                  </a:txBody>
                  <a:tcPr marL="118872" marR="118872" marT="59435" marB="5943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619</a:t>
                      </a:r>
                    </a:p>
                  </a:txBody>
                  <a:tcPr marL="118872" marR="118872" marT="59435" marB="5943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8,144</a:t>
                      </a:r>
                    </a:p>
                  </a:txBody>
                  <a:tcPr marL="118872" marR="118872" marT="59435" marB="5943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1">
                          <a:solidFill>
                            <a:srgbClr val="1A1A1A"/>
                          </a:solidFill>
                          <a:latin typeface="Calibri"/>
                        </a:rPr>
                        <a:t>7.6%</a:t>
                      </a:r>
                    </a:p>
                  </a:txBody>
                  <a:tcPr marL="118872" marR="118872" marT="59435" marB="5943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1" dirty="0">
                          <a:solidFill>
                            <a:srgbClr val="1A1A1A"/>
                          </a:solidFill>
                          <a:latin typeface="Calibri"/>
                        </a:rPr>
                        <a:t>68.9%</a:t>
                      </a:r>
                    </a:p>
                  </a:txBody>
                  <a:tcPr marL="118872" marR="118872" marT="59435" marB="5943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1">
                          <a:solidFill>
                            <a:srgbClr val="6E6E6E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118872" marR="118872" marT="59435" marB="5943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212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12 Jan 2026</a:t>
                      </a:r>
                    </a:p>
                  </a:txBody>
                  <a:tcPr marL="118872" marR="118872" marT="59435" marB="59435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5,366</a:t>
                      </a:r>
                    </a:p>
                  </a:txBody>
                  <a:tcPr marL="118872" marR="118872" marT="59435" marB="59435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1,853</a:t>
                      </a:r>
                    </a:p>
                  </a:txBody>
                  <a:tcPr marL="118872" marR="118872" marT="59435" marB="59435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6E6E6E"/>
                          </a:solidFill>
                          <a:latin typeface="Calibri"/>
                        </a:rPr>
                        <a:t>7,219</a:t>
                      </a:r>
                    </a:p>
                  </a:txBody>
                  <a:tcPr marL="118872" marR="118872" marT="59435" marB="59435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1" dirty="0">
                          <a:solidFill>
                            <a:srgbClr val="1A1A1A"/>
                          </a:solidFill>
                          <a:latin typeface="Calibri"/>
                        </a:rPr>
                        <a:t>74.3%</a:t>
                      </a:r>
                    </a:p>
                  </a:txBody>
                  <a:tcPr marL="118872" marR="118872" marT="59435" marB="59435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660</a:t>
                      </a:r>
                    </a:p>
                  </a:txBody>
                  <a:tcPr marL="118872" marR="118872" marT="59435" marB="59435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7,879</a:t>
                      </a:r>
                    </a:p>
                  </a:txBody>
                  <a:tcPr marL="118872" marR="118872" marT="59435" marB="59435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1">
                          <a:solidFill>
                            <a:srgbClr val="1A1A1A"/>
                          </a:solidFill>
                          <a:latin typeface="Calibri"/>
                        </a:rPr>
                        <a:t>8.4%</a:t>
                      </a:r>
                    </a:p>
                  </a:txBody>
                  <a:tcPr marL="118872" marR="118872" marT="59435" marB="59435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1" dirty="0">
                          <a:solidFill>
                            <a:srgbClr val="1A1A1A"/>
                          </a:solidFill>
                          <a:latin typeface="Calibri"/>
                        </a:rPr>
                        <a:t>68.1%</a:t>
                      </a:r>
                    </a:p>
                  </a:txBody>
                  <a:tcPr marL="118872" marR="118872" marT="59435" marB="59435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1">
                          <a:solidFill>
                            <a:srgbClr val="1A1A1A"/>
                          </a:solidFill>
                          <a:latin typeface="Calibri"/>
                        </a:rPr>
                        <a:t>72.4%</a:t>
                      </a:r>
                    </a:p>
                  </a:txBody>
                  <a:tcPr marL="118872" marR="118872" marT="59435" marB="59435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212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19 Jan 2026</a:t>
                      </a:r>
                    </a:p>
                  </a:txBody>
                  <a:tcPr marL="118872" marR="118872" marT="59435" marB="5943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4,988</a:t>
                      </a:r>
                    </a:p>
                  </a:txBody>
                  <a:tcPr marL="118872" marR="118872" marT="59435" marB="5943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1,616</a:t>
                      </a:r>
                    </a:p>
                  </a:txBody>
                  <a:tcPr marL="118872" marR="118872" marT="59435" marB="5943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6E6E6E"/>
                          </a:solidFill>
                          <a:latin typeface="Calibri"/>
                        </a:rPr>
                        <a:t>6,604</a:t>
                      </a:r>
                    </a:p>
                  </a:txBody>
                  <a:tcPr marL="118872" marR="118872" marT="59435" marB="59435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1" dirty="0">
                          <a:solidFill>
                            <a:srgbClr val="1A1A1A"/>
                          </a:solidFill>
                          <a:latin typeface="Calibri"/>
                        </a:rPr>
                        <a:t>75.5%</a:t>
                      </a:r>
                    </a:p>
                  </a:txBody>
                  <a:tcPr marL="118872" marR="118872" marT="59435" marB="5943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823</a:t>
                      </a:r>
                    </a:p>
                  </a:txBody>
                  <a:tcPr marL="118872" marR="118872" marT="59435" marB="5943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7,427</a:t>
                      </a:r>
                    </a:p>
                  </a:txBody>
                  <a:tcPr marL="118872" marR="118872" marT="59435" marB="5943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1" dirty="0">
                          <a:solidFill>
                            <a:srgbClr val="FF0000"/>
                          </a:solidFill>
                          <a:latin typeface="Calibri"/>
                        </a:rPr>
                        <a:t>11.1%</a:t>
                      </a:r>
                    </a:p>
                  </a:txBody>
                  <a:tcPr marL="118872" marR="118872" marT="59435" marB="5943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1" dirty="0">
                          <a:solidFill>
                            <a:srgbClr val="1A1A1A"/>
                          </a:solidFill>
                          <a:latin typeface="Calibri"/>
                        </a:rPr>
                        <a:t>67.2%</a:t>
                      </a:r>
                    </a:p>
                  </a:txBody>
                  <a:tcPr marL="118872" marR="118872" marT="59435" marB="5943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1">
                          <a:solidFill>
                            <a:srgbClr val="1A1A1A"/>
                          </a:solidFill>
                          <a:latin typeface="Calibri"/>
                        </a:rPr>
                        <a:t>73.9%</a:t>
                      </a:r>
                    </a:p>
                  </a:txBody>
                  <a:tcPr marL="118872" marR="118872" marT="59435" marB="5943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6212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26 Jan 2026</a:t>
                      </a:r>
                    </a:p>
                  </a:txBody>
                  <a:tcPr marL="118872" marR="118872" marT="59435" marB="59435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4,819</a:t>
                      </a:r>
                    </a:p>
                  </a:txBody>
                  <a:tcPr marL="118872" marR="118872" marT="59435" marB="59435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1,585</a:t>
                      </a:r>
                    </a:p>
                  </a:txBody>
                  <a:tcPr marL="118872" marR="118872" marT="59435" marB="59435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6E6E6E"/>
                          </a:solidFill>
                          <a:latin typeface="Calibri"/>
                        </a:rPr>
                        <a:t>6,404</a:t>
                      </a:r>
                    </a:p>
                  </a:txBody>
                  <a:tcPr marL="118872" marR="118872" marT="59435" marB="59435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1">
                          <a:solidFill>
                            <a:srgbClr val="1A1A1A"/>
                          </a:solidFill>
                          <a:latin typeface="Calibri"/>
                        </a:rPr>
                        <a:t>75.2%</a:t>
                      </a:r>
                    </a:p>
                  </a:txBody>
                  <a:tcPr marL="118872" marR="118872" marT="59435" marB="59435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1,015</a:t>
                      </a:r>
                    </a:p>
                  </a:txBody>
                  <a:tcPr marL="118872" marR="118872" marT="59435" marB="59435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7,419</a:t>
                      </a:r>
                    </a:p>
                  </a:txBody>
                  <a:tcPr marL="118872" marR="118872" marT="59435" marB="59435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1" dirty="0">
                          <a:solidFill>
                            <a:srgbClr val="FF0000"/>
                          </a:solidFill>
                          <a:latin typeface="Calibri"/>
                        </a:rPr>
                        <a:t>13.7%</a:t>
                      </a:r>
                    </a:p>
                  </a:txBody>
                  <a:tcPr marL="118872" marR="118872" marT="59435" marB="59435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1" dirty="0">
                          <a:solidFill>
                            <a:srgbClr val="1A1A1A"/>
                          </a:solidFill>
                          <a:latin typeface="Calibri"/>
                        </a:rPr>
                        <a:t>65.0%</a:t>
                      </a:r>
                    </a:p>
                  </a:txBody>
                  <a:tcPr marL="118872" marR="118872" marT="59435" marB="59435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1">
                          <a:solidFill>
                            <a:srgbClr val="1A1A1A"/>
                          </a:solidFill>
                          <a:latin typeface="Calibri"/>
                        </a:rPr>
                        <a:t>74.9%</a:t>
                      </a:r>
                    </a:p>
                  </a:txBody>
                  <a:tcPr marL="118872" marR="118872" marT="59435" marB="59435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6212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02 Feb 2026</a:t>
                      </a:r>
                    </a:p>
                  </a:txBody>
                  <a:tcPr marL="118872" marR="118872" marT="59435" marB="5943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5,019</a:t>
                      </a:r>
                    </a:p>
                  </a:txBody>
                  <a:tcPr marL="118872" marR="118872" marT="59435" marB="5943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1,483</a:t>
                      </a:r>
                    </a:p>
                  </a:txBody>
                  <a:tcPr marL="118872" marR="118872" marT="59435" marB="5943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6E6E6E"/>
                          </a:solidFill>
                          <a:latin typeface="Calibri"/>
                        </a:rPr>
                        <a:t>6,502</a:t>
                      </a:r>
                    </a:p>
                  </a:txBody>
                  <a:tcPr marL="118872" marR="118872" marT="59435" marB="59435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1">
                          <a:solidFill>
                            <a:srgbClr val="1A1A1A"/>
                          </a:solidFill>
                          <a:latin typeface="Calibri"/>
                        </a:rPr>
                        <a:t>77.2%</a:t>
                      </a:r>
                    </a:p>
                  </a:txBody>
                  <a:tcPr marL="118872" marR="118872" marT="59435" marB="5943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1,620</a:t>
                      </a:r>
                    </a:p>
                  </a:txBody>
                  <a:tcPr marL="118872" marR="118872" marT="59435" marB="5943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8,122</a:t>
                      </a:r>
                    </a:p>
                  </a:txBody>
                  <a:tcPr marL="118872" marR="118872" marT="59435" marB="5943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1" dirty="0">
                          <a:solidFill>
                            <a:srgbClr val="FF0000"/>
                          </a:solidFill>
                          <a:latin typeface="Calibri"/>
                        </a:rPr>
                        <a:t>19.9%</a:t>
                      </a:r>
                    </a:p>
                  </a:txBody>
                  <a:tcPr marL="118872" marR="118872" marT="59435" marB="5943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1" dirty="0">
                          <a:solidFill>
                            <a:srgbClr val="1A1A1A"/>
                          </a:solidFill>
                          <a:latin typeface="Calibri"/>
                        </a:rPr>
                        <a:t>61.8%</a:t>
                      </a:r>
                    </a:p>
                  </a:txBody>
                  <a:tcPr marL="118872" marR="118872" marT="59435" marB="5943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1">
                          <a:solidFill>
                            <a:srgbClr val="1A1A1A"/>
                          </a:solidFill>
                          <a:latin typeface="Calibri"/>
                        </a:rPr>
                        <a:t>75.5%</a:t>
                      </a:r>
                    </a:p>
                  </a:txBody>
                  <a:tcPr marL="118872" marR="118872" marT="59435" marB="5943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6212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09 Feb 2026</a:t>
                      </a:r>
                    </a:p>
                  </a:txBody>
                  <a:tcPr marL="118872" marR="118872" marT="59435" marB="59435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4,031</a:t>
                      </a:r>
                    </a:p>
                  </a:txBody>
                  <a:tcPr marL="118872" marR="118872" marT="59435" marB="59435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1,133</a:t>
                      </a:r>
                    </a:p>
                  </a:txBody>
                  <a:tcPr marL="118872" marR="118872" marT="59435" marB="59435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6E6E6E"/>
                          </a:solidFill>
                          <a:latin typeface="Calibri"/>
                        </a:rPr>
                        <a:t>5,164</a:t>
                      </a:r>
                    </a:p>
                  </a:txBody>
                  <a:tcPr marL="118872" marR="118872" marT="59435" marB="59435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1" dirty="0">
                          <a:solidFill>
                            <a:srgbClr val="1A1A1A"/>
                          </a:solidFill>
                          <a:latin typeface="Calibri"/>
                        </a:rPr>
                        <a:t>78.1%</a:t>
                      </a:r>
                    </a:p>
                  </a:txBody>
                  <a:tcPr marL="118872" marR="118872" marT="59435" marB="59435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2,876</a:t>
                      </a:r>
                    </a:p>
                  </a:txBody>
                  <a:tcPr marL="118872" marR="118872" marT="59435" marB="59435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8,040</a:t>
                      </a:r>
                    </a:p>
                  </a:txBody>
                  <a:tcPr marL="118872" marR="118872" marT="59435" marB="59435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1" dirty="0">
                          <a:solidFill>
                            <a:srgbClr val="FF0000"/>
                          </a:solidFill>
                          <a:latin typeface="Calibri"/>
                        </a:rPr>
                        <a:t>35.8%</a:t>
                      </a:r>
                    </a:p>
                  </a:txBody>
                  <a:tcPr marL="118872" marR="118872" marT="59435" marB="59435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1" dirty="0">
                          <a:solidFill>
                            <a:srgbClr val="1A1A1A"/>
                          </a:solidFill>
                          <a:latin typeface="Calibri"/>
                        </a:rPr>
                        <a:t>50.1%</a:t>
                      </a:r>
                    </a:p>
                  </a:txBody>
                  <a:tcPr marL="118872" marR="118872" marT="59435" marB="59435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1" dirty="0">
                          <a:solidFill>
                            <a:srgbClr val="1A1A1A"/>
                          </a:solidFill>
                          <a:latin typeface="Calibri"/>
                        </a:rPr>
                        <a:t>76.4%</a:t>
                      </a:r>
                    </a:p>
                  </a:txBody>
                  <a:tcPr marL="118872" marR="118872" marT="59435" marB="59435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6212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A1A1A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118872" marR="118872" marT="59435" marB="59435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0">
                          <a:solidFill>
                            <a:srgbClr val="1A1A1A"/>
                          </a:solidFill>
                          <a:latin typeface="Calibri"/>
                        </a:rPr>
                        <a:t>37,523</a:t>
                      </a:r>
                    </a:p>
                  </a:txBody>
                  <a:tcPr marL="118872" marR="118872" marT="59435" marB="59435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0">
                          <a:solidFill>
                            <a:srgbClr val="1A1A1A"/>
                          </a:solidFill>
                          <a:latin typeface="Calibri"/>
                        </a:rPr>
                        <a:t>12,946</a:t>
                      </a:r>
                    </a:p>
                  </a:txBody>
                  <a:tcPr marL="118872" marR="118872" marT="59435" marB="59435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6E6E6E"/>
                          </a:solidFill>
                          <a:latin typeface="Calibri"/>
                        </a:rPr>
                        <a:t>50,469</a:t>
                      </a:r>
                    </a:p>
                  </a:txBody>
                  <a:tcPr marL="118872" marR="118872" marT="59435" marB="59435"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1" dirty="0">
                          <a:solidFill>
                            <a:srgbClr val="1A1A1A"/>
                          </a:solidFill>
                          <a:latin typeface="Calibri"/>
                        </a:rPr>
                        <a:t>74.3%</a:t>
                      </a:r>
                    </a:p>
                  </a:txBody>
                  <a:tcPr marL="118872" marR="118872" marT="59435" marB="59435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0">
                          <a:solidFill>
                            <a:srgbClr val="1A1A1A"/>
                          </a:solidFill>
                          <a:latin typeface="Calibri"/>
                        </a:rPr>
                        <a:t>8,406</a:t>
                      </a:r>
                    </a:p>
                  </a:txBody>
                  <a:tcPr marL="118872" marR="118872" marT="59435" marB="59435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1A1A1A"/>
                          </a:solidFill>
                          <a:latin typeface="Calibri"/>
                        </a:rPr>
                        <a:t>58,875</a:t>
                      </a:r>
                    </a:p>
                  </a:txBody>
                  <a:tcPr marL="118872" marR="118872" marT="59435" marB="59435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1">
                          <a:solidFill>
                            <a:srgbClr val="1A1A1A"/>
                          </a:solidFill>
                          <a:latin typeface="Calibri"/>
                        </a:rPr>
                        <a:t>14.3%</a:t>
                      </a:r>
                    </a:p>
                  </a:txBody>
                  <a:tcPr marL="118872" marR="118872" marT="59435" marB="59435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1">
                          <a:solidFill>
                            <a:srgbClr val="1A1A1A"/>
                          </a:solidFill>
                          <a:latin typeface="Calibri"/>
                        </a:rPr>
                        <a:t>63.7%</a:t>
                      </a:r>
                    </a:p>
                  </a:txBody>
                  <a:tcPr marL="118872" marR="118872" marT="59435" marB="59435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dirty="0"/>
                    </a:p>
                  </a:txBody>
                  <a:tcPr marL="118872" marR="118872" marT="59435" marB="59435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7589520"/>
            <a:ext cx="1280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 dirty="0">
                <a:solidFill>
                  <a:srgbClr val="6E6E6E"/>
                </a:solidFill>
                <a:latin typeface="Calibri"/>
              </a:rPr>
              <a:t>Note: Most recent weeks may show elevated % Unused due to reservations still being worked.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098619-1F87-CD58-1FEB-1992428885CE}"/>
              </a:ext>
            </a:extLst>
          </p:cNvPr>
          <p:cNvSpPr/>
          <p:nvPr/>
        </p:nvSpPr>
        <p:spPr>
          <a:xfrm>
            <a:off x="5562600" y="2692400"/>
            <a:ext cx="901700" cy="2565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4139</TotalTime>
  <Words>519</Words>
  <Application>Microsoft Macintosh PowerPoint</Application>
  <PresentationFormat>Custom</PresentationFormat>
  <Paragraphs>264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Daniel Sia</cp:lastModifiedBy>
  <cp:revision>4</cp:revision>
  <dcterms:created xsi:type="dcterms:W3CDTF">2013-01-27T09:14:16Z</dcterms:created>
  <dcterms:modified xsi:type="dcterms:W3CDTF">2026-02-21T18:34:52Z</dcterms:modified>
  <cp:category/>
</cp:coreProperties>
</file>